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8288000" cy="10287000"/>
  <p:notesSz cx="6858000" cy="9144000"/>
  <p:embeddedFontLst>
    <p:embeddedFont>
      <p:font typeface="Canva Sans" panose="020B0604020202020204" charset="0"/>
      <p:regular r:id="rId9"/>
    </p:embeddedFont>
    <p:embeddedFont>
      <p:font typeface="Canva Sans Bold" panose="020B0604020202020204" charset="0"/>
      <p:regular r:id="rId10"/>
    </p:embeddedFont>
    <p:embeddedFont>
      <p:font typeface="Inter Bold" panose="020B0604020202020204" charset="0"/>
      <p:regular r:id="rId11"/>
    </p:embeddedFont>
    <p:embeddedFont>
      <p:font typeface="Montserrat Semi-Bold" panose="020B0604020202020204" charset="0"/>
      <p:regular r:id="rId12"/>
    </p:embeddedFont>
    <p:embeddedFont>
      <p:font typeface="Poppins" panose="00000500000000000000" pitchFamily="2" charset="0"/>
      <p:regular r:id="rId13"/>
      <p:italic r:id="rId14"/>
    </p:embeddedFont>
  </p:embeddedFontLst>
  <p:custDataLst>
    <p:tags r:id="rId1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374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70" d="100"/>
          <a:sy n="70" d="100"/>
        </p:scale>
        <p:origin x="774" y="12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font" Target="fonts/font5.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4.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tags" Target="tags/tag1.xml"/><Relationship Id="rId10" Type="http://schemas.openxmlformats.org/officeDocument/2006/relationships/font" Target="fonts/font2.fntdata"/><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A2E167-1F70-467B-A3B5-B4F2BC873E1E}" type="datetimeFigureOut">
              <a:rPr lang="en-IN" smtClean="0"/>
              <a:t>15-12-2025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6E9F5F8-2A59-47CA-9395-C09C92431337}" type="slidenum">
              <a:rPr lang="en-IN" smtClean="0"/>
              <a:t>‹#›</a:t>
            </a:fld>
            <a:endParaRPr lang="en-IN"/>
          </a:p>
        </p:txBody>
      </p:sp>
    </p:spTree>
    <p:extLst>
      <p:ext uri="{BB962C8B-B14F-4D97-AF65-F5344CB8AC3E}">
        <p14:creationId xmlns:p14="http://schemas.microsoft.com/office/powerpoint/2010/main" val="10230121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36E9F5F8-2A59-47CA-9395-C09C92431337}" type="slidenum">
              <a:rPr lang="en-IN" smtClean="0"/>
              <a:t>3</a:t>
            </a:fld>
            <a:endParaRPr lang="en-IN"/>
          </a:p>
        </p:txBody>
      </p:sp>
    </p:spTree>
    <p:extLst>
      <p:ext uri="{BB962C8B-B14F-4D97-AF65-F5344CB8AC3E}">
        <p14:creationId xmlns:p14="http://schemas.microsoft.com/office/powerpoint/2010/main" val="12387574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tags" Target="../tags/tag4.xml"/><Relationship Id="rId5" Type="http://schemas.openxmlformats.org/officeDocument/2006/relationships/hyperlink" Target="https://app.powerbi.com/view?r=eyJrIjoiYWYzYjJhNzItZGQ1MS00YzUzLTg1YTgtYmRjNDI2Mjg2NTdhIiwidCI6ImM2ZTU0OWIzLTVmNDUtNDAzMi1hYWU5LWQ0MjQ0ZGM1YjJjNCJ9" TargetMode="Externa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7.xml"/><Relationship Id="rId1" Type="http://schemas.openxmlformats.org/officeDocument/2006/relationships/tags" Target="../tags/tag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2016949"/>
            <a:ext cx="19080290" cy="12697066"/>
          </a:xfrm>
          <a:custGeom>
            <a:avLst/>
            <a:gdLst/>
            <a:ahLst/>
            <a:cxnLst/>
            <a:rect l="l" t="t" r="r" b="b"/>
            <a:pathLst>
              <a:path w="19080290" h="12697066">
                <a:moveTo>
                  <a:pt x="0" y="0"/>
                </a:moveTo>
                <a:lnTo>
                  <a:pt x="19080290" y="0"/>
                </a:lnTo>
                <a:lnTo>
                  <a:pt x="19080290" y="12697066"/>
                </a:lnTo>
                <a:lnTo>
                  <a:pt x="0" y="12697066"/>
                </a:lnTo>
                <a:lnTo>
                  <a:pt x="0" y="0"/>
                </a:lnTo>
                <a:close/>
              </a:path>
            </a:pathLst>
          </a:custGeom>
          <a:blipFill>
            <a:blip r:embed="rId3"/>
            <a:stretch>
              <a:fillRect/>
            </a:stretch>
          </a:blipFill>
        </p:spPr>
      </p:sp>
      <p:grpSp>
        <p:nvGrpSpPr>
          <p:cNvPr id="3" name="Group 3"/>
          <p:cNvGrpSpPr/>
          <p:nvPr/>
        </p:nvGrpSpPr>
        <p:grpSpPr>
          <a:xfrm rot="-10800000">
            <a:off x="0" y="-413730"/>
            <a:ext cx="17566674" cy="11500829"/>
            <a:chOff x="0" y="0"/>
            <a:chExt cx="4626614" cy="2812870"/>
          </a:xfrm>
        </p:grpSpPr>
        <p:sp>
          <p:nvSpPr>
            <p:cNvPr id="4" name="Freeform 4"/>
            <p:cNvSpPr/>
            <p:nvPr/>
          </p:nvSpPr>
          <p:spPr>
            <a:xfrm>
              <a:off x="0" y="0"/>
              <a:ext cx="4626614" cy="2812870"/>
            </a:xfrm>
            <a:custGeom>
              <a:avLst/>
              <a:gdLst/>
              <a:ahLst/>
              <a:cxnLst/>
              <a:rect l="l" t="t" r="r" b="b"/>
              <a:pathLst>
                <a:path w="4626614" h="2812870">
                  <a:moveTo>
                    <a:pt x="0" y="0"/>
                  </a:moveTo>
                  <a:lnTo>
                    <a:pt x="4626614" y="0"/>
                  </a:lnTo>
                  <a:lnTo>
                    <a:pt x="4626614" y="2812870"/>
                  </a:lnTo>
                  <a:lnTo>
                    <a:pt x="0" y="2812870"/>
                  </a:lnTo>
                  <a:close/>
                </a:path>
              </a:pathLst>
            </a:custGeom>
            <a:gradFill rotWithShape="1">
              <a:gsLst>
                <a:gs pos="0">
                  <a:srgbClr val="283E51">
                    <a:alpha val="0"/>
                  </a:srgbClr>
                </a:gs>
                <a:gs pos="33333">
                  <a:srgbClr val="283E51">
                    <a:alpha val="75500"/>
                  </a:srgbClr>
                </a:gs>
                <a:gs pos="66667">
                  <a:srgbClr val="283E51">
                    <a:alpha val="100000"/>
                  </a:srgbClr>
                </a:gs>
                <a:gs pos="100000">
                  <a:srgbClr val="122737">
                    <a:alpha val="100000"/>
                  </a:srgbClr>
                </a:gs>
              </a:gsLst>
              <a:lin ang="0"/>
            </a:gradFill>
          </p:spPr>
        </p:sp>
        <p:sp>
          <p:nvSpPr>
            <p:cNvPr id="5" name="TextBox 5"/>
            <p:cNvSpPr txBox="1"/>
            <p:nvPr/>
          </p:nvSpPr>
          <p:spPr>
            <a:xfrm>
              <a:off x="0" y="-38100"/>
              <a:ext cx="4626614" cy="2850970"/>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2569032" y="3165374"/>
            <a:ext cx="12083856" cy="1543050"/>
          </a:xfrm>
          <a:prstGeom prst="rect">
            <a:avLst/>
          </a:prstGeom>
        </p:spPr>
        <p:txBody>
          <a:bodyPr lIns="0" tIns="0" rIns="0" bIns="0" rtlCol="0" anchor="t">
            <a:spAutoFit/>
          </a:bodyPr>
          <a:lstStyle/>
          <a:p>
            <a:pPr algn="l">
              <a:lnSpc>
                <a:spcPts val="12599"/>
              </a:lnSpc>
            </a:pPr>
            <a:r>
              <a:rPr lang="en-US" sz="9000" b="1">
                <a:solidFill>
                  <a:srgbClr val="FFFFFF"/>
                </a:solidFill>
                <a:latin typeface="Inter Bold"/>
                <a:ea typeface="Inter Bold"/>
                <a:cs typeface="Inter Bold"/>
                <a:sym typeface="Inter Bold"/>
              </a:rPr>
              <a:t>SHIELD INSURANCE</a:t>
            </a:r>
          </a:p>
        </p:txBody>
      </p:sp>
      <p:sp>
        <p:nvSpPr>
          <p:cNvPr id="7" name="TextBox 7"/>
          <p:cNvSpPr txBox="1"/>
          <p:nvPr/>
        </p:nvSpPr>
        <p:spPr>
          <a:xfrm>
            <a:off x="2569032" y="4926330"/>
            <a:ext cx="10387814" cy="403059"/>
          </a:xfrm>
          <a:prstGeom prst="rect">
            <a:avLst/>
          </a:prstGeom>
        </p:spPr>
        <p:txBody>
          <a:bodyPr lIns="0" tIns="0" rIns="0" bIns="0" rtlCol="0" anchor="t">
            <a:spAutoFit/>
          </a:bodyPr>
          <a:lstStyle/>
          <a:p>
            <a:pPr algn="l">
              <a:lnSpc>
                <a:spcPts val="3359"/>
              </a:lnSpc>
            </a:pPr>
            <a:r>
              <a:rPr lang="en-US" sz="2400" b="1" dirty="0">
                <a:solidFill>
                  <a:srgbClr val="CBE5FA"/>
                </a:solidFill>
                <a:latin typeface="Montserrat Semi-Bold"/>
                <a:ea typeface="Montserrat Semi-Bold"/>
                <a:cs typeface="Montserrat Semi-Bold"/>
                <a:sym typeface="Montserrat Semi-Bold"/>
              </a:rPr>
              <a:t>Tool Used: Excel, Power BI</a:t>
            </a: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221671" y="-674991"/>
            <a:ext cx="2622271" cy="4817892"/>
            <a:chOff x="0" y="0"/>
            <a:chExt cx="690639" cy="1268910"/>
          </a:xfrm>
        </p:grpSpPr>
        <p:sp>
          <p:nvSpPr>
            <p:cNvPr id="3" name="Freeform 3"/>
            <p:cNvSpPr/>
            <p:nvPr/>
          </p:nvSpPr>
          <p:spPr>
            <a:xfrm>
              <a:off x="0" y="0"/>
              <a:ext cx="690639" cy="1268910"/>
            </a:xfrm>
            <a:custGeom>
              <a:avLst/>
              <a:gdLst/>
              <a:ahLst/>
              <a:cxnLst/>
              <a:rect l="l" t="t" r="r" b="b"/>
              <a:pathLst>
                <a:path w="690639" h="1268910">
                  <a:moveTo>
                    <a:pt x="150571" y="0"/>
                  </a:moveTo>
                  <a:lnTo>
                    <a:pt x="540068" y="0"/>
                  </a:lnTo>
                  <a:cubicBezTo>
                    <a:pt x="623226" y="0"/>
                    <a:pt x="690639" y="67413"/>
                    <a:pt x="690639" y="150571"/>
                  </a:cubicBezTo>
                  <a:lnTo>
                    <a:pt x="690639" y="1118339"/>
                  </a:lnTo>
                  <a:cubicBezTo>
                    <a:pt x="690639" y="1158273"/>
                    <a:pt x="674776" y="1196571"/>
                    <a:pt x="646538" y="1224809"/>
                  </a:cubicBezTo>
                  <a:cubicBezTo>
                    <a:pt x="618301" y="1253046"/>
                    <a:pt x="580002" y="1268910"/>
                    <a:pt x="540068" y="1268910"/>
                  </a:cubicBezTo>
                  <a:lnTo>
                    <a:pt x="150571" y="1268910"/>
                  </a:lnTo>
                  <a:cubicBezTo>
                    <a:pt x="110637" y="1268910"/>
                    <a:pt x="72339" y="1253046"/>
                    <a:pt x="44101" y="1224809"/>
                  </a:cubicBezTo>
                  <a:cubicBezTo>
                    <a:pt x="15864" y="1196571"/>
                    <a:pt x="0" y="1158273"/>
                    <a:pt x="0" y="1118339"/>
                  </a:cubicBezTo>
                  <a:lnTo>
                    <a:pt x="0" y="150571"/>
                  </a:lnTo>
                  <a:cubicBezTo>
                    <a:pt x="0" y="110637"/>
                    <a:pt x="15864" y="72339"/>
                    <a:pt x="44101" y="44101"/>
                  </a:cubicBezTo>
                  <a:cubicBezTo>
                    <a:pt x="72339" y="15864"/>
                    <a:pt x="110637" y="0"/>
                    <a:pt x="150571"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sp>
        <p:sp>
          <p:nvSpPr>
            <p:cNvPr id="4" name="TextBox 4"/>
            <p:cNvSpPr txBox="1"/>
            <p:nvPr/>
          </p:nvSpPr>
          <p:spPr>
            <a:xfrm>
              <a:off x="0" y="-38100"/>
              <a:ext cx="690639" cy="130701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110192" y="7786217"/>
            <a:ext cx="3851064" cy="6699621"/>
            <a:chOff x="0" y="0"/>
            <a:chExt cx="1014272" cy="1764509"/>
          </a:xfrm>
        </p:grpSpPr>
        <p:sp>
          <p:nvSpPr>
            <p:cNvPr id="6" name="Freeform 6"/>
            <p:cNvSpPr/>
            <p:nvPr/>
          </p:nvSpPr>
          <p:spPr>
            <a:xfrm>
              <a:off x="0" y="0"/>
              <a:ext cx="1014272" cy="1764509"/>
            </a:xfrm>
            <a:custGeom>
              <a:avLst/>
              <a:gdLst/>
              <a:ahLst/>
              <a:cxnLst/>
              <a:rect l="l" t="t" r="r" b="b"/>
              <a:pathLst>
                <a:path w="1014272" h="1764509">
                  <a:moveTo>
                    <a:pt x="102527" y="0"/>
                  </a:moveTo>
                  <a:lnTo>
                    <a:pt x="911745" y="0"/>
                  </a:lnTo>
                  <a:cubicBezTo>
                    <a:pt x="938937" y="0"/>
                    <a:pt x="965015" y="10802"/>
                    <a:pt x="984243" y="30029"/>
                  </a:cubicBezTo>
                  <a:cubicBezTo>
                    <a:pt x="1003470" y="49257"/>
                    <a:pt x="1014272" y="75335"/>
                    <a:pt x="1014272" y="102527"/>
                  </a:cubicBezTo>
                  <a:lnTo>
                    <a:pt x="1014272" y="1661982"/>
                  </a:lnTo>
                  <a:cubicBezTo>
                    <a:pt x="1014272" y="1718607"/>
                    <a:pt x="968369" y="1764509"/>
                    <a:pt x="911745" y="1764509"/>
                  </a:cubicBezTo>
                  <a:lnTo>
                    <a:pt x="102527" y="1764509"/>
                  </a:lnTo>
                  <a:cubicBezTo>
                    <a:pt x="45903" y="1764509"/>
                    <a:pt x="0" y="1718607"/>
                    <a:pt x="0" y="1661982"/>
                  </a:cubicBezTo>
                  <a:lnTo>
                    <a:pt x="0" y="102527"/>
                  </a:lnTo>
                  <a:cubicBezTo>
                    <a:pt x="0" y="45903"/>
                    <a:pt x="45903" y="0"/>
                    <a:pt x="102527"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sp>
        <p:sp>
          <p:nvSpPr>
            <p:cNvPr id="7" name="TextBox 7"/>
            <p:cNvSpPr txBox="1"/>
            <p:nvPr/>
          </p:nvSpPr>
          <p:spPr>
            <a:xfrm>
              <a:off x="0" y="-38100"/>
              <a:ext cx="1014272" cy="1802609"/>
            </a:xfrm>
            <a:prstGeom prst="rect">
              <a:avLst/>
            </a:prstGeom>
          </p:spPr>
          <p:txBody>
            <a:bodyPr lIns="50800" tIns="50800" rIns="50800" bIns="50800" rtlCol="0" anchor="ctr"/>
            <a:lstStyle/>
            <a:p>
              <a:pPr algn="ctr">
                <a:lnSpc>
                  <a:spcPts val="2659"/>
                </a:lnSpc>
              </a:pPr>
              <a:endParaRPr/>
            </a:p>
          </p:txBody>
        </p:sp>
      </p:grpSp>
      <p:sp>
        <p:nvSpPr>
          <p:cNvPr id="8" name="TextBox 8"/>
          <p:cNvSpPr txBox="1"/>
          <p:nvPr/>
        </p:nvSpPr>
        <p:spPr>
          <a:xfrm>
            <a:off x="5625393" y="2228194"/>
            <a:ext cx="7236003" cy="860425"/>
          </a:xfrm>
          <a:prstGeom prst="rect">
            <a:avLst/>
          </a:prstGeom>
        </p:spPr>
        <p:txBody>
          <a:bodyPr lIns="0" tIns="0" rIns="0" bIns="0" rtlCol="0" anchor="t">
            <a:spAutoFit/>
          </a:bodyPr>
          <a:lstStyle/>
          <a:p>
            <a:pPr algn="l">
              <a:lnSpc>
                <a:spcPts val="6499"/>
              </a:lnSpc>
            </a:pPr>
            <a:r>
              <a:rPr lang="en-US" sz="6499" b="1">
                <a:solidFill>
                  <a:srgbClr val="263744"/>
                </a:solidFill>
                <a:latin typeface="Inter Bold"/>
                <a:ea typeface="Inter Bold"/>
                <a:cs typeface="Inter Bold"/>
                <a:sym typeface="Inter Bold"/>
              </a:rPr>
              <a:t>INTRODUCTION</a:t>
            </a:r>
          </a:p>
        </p:txBody>
      </p:sp>
      <p:sp>
        <p:nvSpPr>
          <p:cNvPr id="9" name="TextBox 9"/>
          <p:cNvSpPr txBox="1"/>
          <p:nvPr/>
        </p:nvSpPr>
        <p:spPr>
          <a:xfrm>
            <a:off x="2981984" y="3571087"/>
            <a:ext cx="13406741" cy="4562916"/>
          </a:xfrm>
          <a:prstGeom prst="rect">
            <a:avLst/>
          </a:prstGeom>
        </p:spPr>
        <p:txBody>
          <a:bodyPr lIns="0" tIns="0" rIns="0" bIns="0" rtlCol="0" anchor="t">
            <a:spAutoFit/>
          </a:bodyPr>
          <a:lstStyle/>
          <a:p>
            <a:pPr algn="l">
              <a:lnSpc>
                <a:spcPct val="150000"/>
              </a:lnSpc>
            </a:pPr>
            <a:r>
              <a:rPr lang="en-US" sz="2200" dirty="0">
                <a:solidFill>
                  <a:srgbClr val="263744"/>
                </a:solidFill>
                <a:latin typeface="Poppins"/>
                <a:ea typeface="Poppins"/>
                <a:cs typeface="Poppins"/>
                <a:sym typeface="Poppins"/>
              </a:rPr>
              <a:t>This project for Shield Insurance involves creating an interactive Power BI dashboard to track revenue, customer growth, policy trends, and settlement expectations. The dashboard provides month-over-month comparisons and insights across age groups, cities, and sales modes to help the business understand key performance patterns.</a:t>
            </a:r>
          </a:p>
          <a:p>
            <a:pPr algn="l">
              <a:lnSpc>
                <a:spcPts val="3947"/>
              </a:lnSpc>
            </a:pPr>
            <a:r>
              <a:rPr lang="en-US" sz="2200" dirty="0">
                <a:solidFill>
                  <a:srgbClr val="263744"/>
                </a:solidFill>
                <a:latin typeface="Poppins"/>
                <a:ea typeface="Poppins"/>
                <a:cs typeface="Poppins"/>
                <a:sym typeface="Poppins"/>
              </a:rPr>
              <a:t>Using Power BI and Excel, the project followed a straightforward process of data preparation, modeling, KPI development, and dashboard design. The final solution brings together important metrics and trends in one place, making it easier for the team to make informed and timely decisions.</a:t>
            </a:r>
          </a:p>
          <a:p>
            <a:pPr algn="l">
              <a:lnSpc>
                <a:spcPts val="4699"/>
              </a:lnSpc>
            </a:pPr>
            <a:endParaRPr lang="en-US" sz="2200" dirty="0">
              <a:solidFill>
                <a:srgbClr val="263744"/>
              </a:solidFill>
              <a:latin typeface="Poppins"/>
              <a:ea typeface="Poppins"/>
              <a:cs typeface="Poppins"/>
              <a:sym typeface="Poppins"/>
            </a:endParaRP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89710" y="-3608891"/>
            <a:ext cx="3834018" cy="7217781"/>
            <a:chOff x="0" y="0"/>
            <a:chExt cx="1009782" cy="1900979"/>
          </a:xfrm>
        </p:grpSpPr>
        <p:sp>
          <p:nvSpPr>
            <p:cNvPr id="3" name="Freeform 3"/>
            <p:cNvSpPr/>
            <p:nvPr/>
          </p:nvSpPr>
          <p:spPr>
            <a:xfrm>
              <a:off x="0" y="0"/>
              <a:ext cx="1009782" cy="1900980"/>
            </a:xfrm>
            <a:custGeom>
              <a:avLst/>
              <a:gdLst/>
              <a:ahLst/>
              <a:cxnLst/>
              <a:rect l="l" t="t" r="r" b="b"/>
              <a:pathLst>
                <a:path w="1009782" h="1900980">
                  <a:moveTo>
                    <a:pt x="102983" y="0"/>
                  </a:moveTo>
                  <a:lnTo>
                    <a:pt x="906800" y="0"/>
                  </a:lnTo>
                  <a:cubicBezTo>
                    <a:pt x="934112" y="0"/>
                    <a:pt x="960307" y="10850"/>
                    <a:pt x="979619" y="30163"/>
                  </a:cubicBezTo>
                  <a:cubicBezTo>
                    <a:pt x="998933" y="49476"/>
                    <a:pt x="1009782" y="75670"/>
                    <a:pt x="1009782" y="102983"/>
                  </a:cubicBezTo>
                  <a:lnTo>
                    <a:pt x="1009782" y="1797997"/>
                  </a:lnTo>
                  <a:cubicBezTo>
                    <a:pt x="1009782" y="1825310"/>
                    <a:pt x="998933" y="1851503"/>
                    <a:pt x="979619" y="1870817"/>
                  </a:cubicBezTo>
                  <a:cubicBezTo>
                    <a:pt x="960307" y="1890130"/>
                    <a:pt x="934112" y="1900980"/>
                    <a:pt x="906800" y="1900980"/>
                  </a:cubicBezTo>
                  <a:lnTo>
                    <a:pt x="102983" y="1900980"/>
                  </a:lnTo>
                  <a:cubicBezTo>
                    <a:pt x="75670" y="1900980"/>
                    <a:pt x="49476" y="1890130"/>
                    <a:pt x="30163" y="1870817"/>
                  </a:cubicBezTo>
                  <a:cubicBezTo>
                    <a:pt x="10850" y="1851503"/>
                    <a:pt x="0" y="1825310"/>
                    <a:pt x="0" y="1797997"/>
                  </a:cubicBezTo>
                  <a:lnTo>
                    <a:pt x="0" y="102983"/>
                  </a:lnTo>
                  <a:cubicBezTo>
                    <a:pt x="0" y="75670"/>
                    <a:pt x="10850" y="49476"/>
                    <a:pt x="30163" y="30163"/>
                  </a:cubicBezTo>
                  <a:cubicBezTo>
                    <a:pt x="49476" y="10850"/>
                    <a:pt x="75670" y="0"/>
                    <a:pt x="102983"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sp>
        <p:sp>
          <p:nvSpPr>
            <p:cNvPr id="4" name="TextBox 4"/>
            <p:cNvSpPr txBox="1"/>
            <p:nvPr/>
          </p:nvSpPr>
          <p:spPr>
            <a:xfrm>
              <a:off x="0" y="-38100"/>
              <a:ext cx="1009782" cy="1939079"/>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4022411" y="4166920"/>
            <a:ext cx="1546390" cy="1479763"/>
            <a:chOff x="0" y="0"/>
            <a:chExt cx="407280" cy="389732"/>
          </a:xfrm>
        </p:grpSpPr>
        <p:sp>
          <p:nvSpPr>
            <p:cNvPr id="6" name="Freeform 6"/>
            <p:cNvSpPr/>
            <p:nvPr/>
          </p:nvSpPr>
          <p:spPr>
            <a:xfrm>
              <a:off x="0" y="0"/>
              <a:ext cx="407280" cy="389732"/>
            </a:xfrm>
            <a:custGeom>
              <a:avLst/>
              <a:gdLst/>
              <a:ahLst/>
              <a:cxnLst/>
              <a:rect l="l" t="t" r="r" b="b"/>
              <a:pathLst>
                <a:path w="407280" h="389732">
                  <a:moveTo>
                    <a:pt x="135174" y="0"/>
                  </a:moveTo>
                  <a:lnTo>
                    <a:pt x="272106" y="0"/>
                  </a:lnTo>
                  <a:cubicBezTo>
                    <a:pt x="346760" y="0"/>
                    <a:pt x="407280" y="60519"/>
                    <a:pt x="407280" y="135174"/>
                  </a:cubicBezTo>
                  <a:lnTo>
                    <a:pt x="407280" y="254558"/>
                  </a:lnTo>
                  <a:cubicBezTo>
                    <a:pt x="407280" y="290408"/>
                    <a:pt x="393038" y="324790"/>
                    <a:pt x="367688" y="350140"/>
                  </a:cubicBezTo>
                  <a:cubicBezTo>
                    <a:pt x="342338" y="375490"/>
                    <a:pt x="307956" y="389732"/>
                    <a:pt x="272106" y="389732"/>
                  </a:cubicBezTo>
                  <a:lnTo>
                    <a:pt x="135174" y="389732"/>
                  </a:lnTo>
                  <a:cubicBezTo>
                    <a:pt x="99324" y="389732"/>
                    <a:pt x="64942" y="375490"/>
                    <a:pt x="39592" y="350140"/>
                  </a:cubicBezTo>
                  <a:cubicBezTo>
                    <a:pt x="14242" y="324790"/>
                    <a:pt x="0" y="290408"/>
                    <a:pt x="0" y="254558"/>
                  </a:cubicBezTo>
                  <a:lnTo>
                    <a:pt x="0" y="135174"/>
                  </a:lnTo>
                  <a:cubicBezTo>
                    <a:pt x="0" y="99324"/>
                    <a:pt x="14242" y="64942"/>
                    <a:pt x="39592" y="39592"/>
                  </a:cubicBezTo>
                  <a:cubicBezTo>
                    <a:pt x="64942" y="14242"/>
                    <a:pt x="99324" y="0"/>
                    <a:pt x="135174" y="0"/>
                  </a:cubicBezTo>
                  <a:close/>
                </a:path>
              </a:pathLst>
            </a:custGeom>
            <a:solidFill>
              <a:srgbClr val="3C586D"/>
            </a:solidFill>
          </p:spPr>
        </p:sp>
        <p:sp>
          <p:nvSpPr>
            <p:cNvPr id="7" name="TextBox 7"/>
            <p:cNvSpPr txBox="1"/>
            <p:nvPr/>
          </p:nvSpPr>
          <p:spPr>
            <a:xfrm>
              <a:off x="0" y="-38100"/>
              <a:ext cx="407280" cy="427832"/>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727299" y="597802"/>
            <a:ext cx="4545698" cy="4545698"/>
            <a:chOff x="0" y="0"/>
            <a:chExt cx="812800" cy="812800"/>
          </a:xfrm>
        </p:grpSpPr>
        <p:sp>
          <p:nvSpPr>
            <p:cNvPr id="9" name="Freeform 9"/>
            <p:cNvSpPr/>
            <p:nvPr/>
          </p:nvSpPr>
          <p:spPr>
            <a:xfrm>
              <a:off x="0" y="0"/>
              <a:ext cx="812800" cy="812800"/>
            </a:xfrm>
            <a:custGeom>
              <a:avLst/>
              <a:gdLst/>
              <a:ahLst/>
              <a:cxnLst/>
              <a:rect l="l" t="t" r="r" b="b"/>
              <a:pathLst>
                <a:path w="812800" h="812800">
                  <a:moveTo>
                    <a:pt x="68125" y="0"/>
                  </a:moveTo>
                  <a:lnTo>
                    <a:pt x="744675" y="0"/>
                  </a:lnTo>
                  <a:cubicBezTo>
                    <a:pt x="782299" y="0"/>
                    <a:pt x="812800" y="30501"/>
                    <a:pt x="812800" y="68125"/>
                  </a:cubicBezTo>
                  <a:lnTo>
                    <a:pt x="812800" y="744675"/>
                  </a:lnTo>
                  <a:cubicBezTo>
                    <a:pt x="812800" y="782299"/>
                    <a:pt x="782299" y="812800"/>
                    <a:pt x="744675" y="812800"/>
                  </a:cubicBezTo>
                  <a:lnTo>
                    <a:pt x="68125" y="812800"/>
                  </a:lnTo>
                  <a:cubicBezTo>
                    <a:pt x="30501" y="812800"/>
                    <a:pt x="0" y="782299"/>
                    <a:pt x="0" y="744675"/>
                  </a:cubicBezTo>
                  <a:lnTo>
                    <a:pt x="0" y="68125"/>
                  </a:lnTo>
                  <a:cubicBezTo>
                    <a:pt x="0" y="30501"/>
                    <a:pt x="30501" y="0"/>
                    <a:pt x="68125" y="0"/>
                  </a:cubicBezTo>
                  <a:close/>
                </a:path>
              </a:pathLst>
            </a:custGeom>
            <a:blipFill>
              <a:blip r:embed="rId4"/>
              <a:stretch>
                <a:fillRect l="-7773" r="-48782"/>
              </a:stretch>
            </a:blipFill>
          </p:spPr>
        </p:sp>
      </p:grpSp>
      <p:grpSp>
        <p:nvGrpSpPr>
          <p:cNvPr id="10" name="Group 10"/>
          <p:cNvGrpSpPr/>
          <p:nvPr/>
        </p:nvGrpSpPr>
        <p:grpSpPr>
          <a:xfrm>
            <a:off x="17259300" y="2030362"/>
            <a:ext cx="2092393" cy="6226275"/>
            <a:chOff x="0" y="0"/>
            <a:chExt cx="551083" cy="1639842"/>
          </a:xfrm>
        </p:grpSpPr>
        <p:sp>
          <p:nvSpPr>
            <p:cNvPr id="11" name="Freeform 11"/>
            <p:cNvSpPr/>
            <p:nvPr/>
          </p:nvSpPr>
          <p:spPr>
            <a:xfrm>
              <a:off x="0" y="0"/>
              <a:ext cx="551083" cy="1639842"/>
            </a:xfrm>
            <a:custGeom>
              <a:avLst/>
              <a:gdLst/>
              <a:ahLst/>
              <a:cxnLst/>
              <a:rect l="l" t="t" r="r" b="b"/>
              <a:pathLst>
                <a:path w="551083" h="1639842">
                  <a:moveTo>
                    <a:pt x="188702" y="0"/>
                  </a:moveTo>
                  <a:lnTo>
                    <a:pt x="362381" y="0"/>
                  </a:lnTo>
                  <a:cubicBezTo>
                    <a:pt x="466598" y="0"/>
                    <a:pt x="551083" y="84485"/>
                    <a:pt x="551083" y="188702"/>
                  </a:cubicBezTo>
                  <a:lnTo>
                    <a:pt x="551083" y="1451140"/>
                  </a:lnTo>
                  <a:cubicBezTo>
                    <a:pt x="551083" y="1555357"/>
                    <a:pt x="466598" y="1639842"/>
                    <a:pt x="362381" y="1639842"/>
                  </a:cubicBezTo>
                  <a:lnTo>
                    <a:pt x="188702" y="1639842"/>
                  </a:lnTo>
                  <a:cubicBezTo>
                    <a:pt x="84485" y="1639842"/>
                    <a:pt x="0" y="1555357"/>
                    <a:pt x="0" y="1451140"/>
                  </a:cubicBezTo>
                  <a:lnTo>
                    <a:pt x="0" y="188702"/>
                  </a:lnTo>
                  <a:cubicBezTo>
                    <a:pt x="0" y="84485"/>
                    <a:pt x="84485" y="0"/>
                    <a:pt x="188702"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sp>
        <p:sp>
          <p:nvSpPr>
            <p:cNvPr id="12" name="TextBox 12"/>
            <p:cNvSpPr txBox="1"/>
            <p:nvPr/>
          </p:nvSpPr>
          <p:spPr>
            <a:xfrm>
              <a:off x="0" y="-38100"/>
              <a:ext cx="551083" cy="1677942"/>
            </a:xfrm>
            <a:prstGeom prst="rect">
              <a:avLst/>
            </a:prstGeom>
          </p:spPr>
          <p:txBody>
            <a:bodyPr lIns="50800" tIns="50800" rIns="50800" bIns="50800" rtlCol="0" anchor="ctr"/>
            <a:lstStyle/>
            <a:p>
              <a:pPr algn="ctr">
                <a:lnSpc>
                  <a:spcPts val="2659"/>
                </a:lnSpc>
              </a:pPr>
              <a:endParaRPr/>
            </a:p>
          </p:txBody>
        </p:sp>
      </p:grpSp>
      <p:sp>
        <p:nvSpPr>
          <p:cNvPr id="13" name="TextBox 13"/>
          <p:cNvSpPr txBox="1"/>
          <p:nvPr/>
        </p:nvSpPr>
        <p:spPr>
          <a:xfrm>
            <a:off x="5594927" y="2171700"/>
            <a:ext cx="10314483" cy="403444"/>
          </a:xfrm>
          <a:prstGeom prst="rect">
            <a:avLst/>
          </a:prstGeom>
        </p:spPr>
        <p:txBody>
          <a:bodyPr lIns="0" tIns="0" rIns="0" bIns="0" rtlCol="0" anchor="t">
            <a:spAutoFit/>
          </a:bodyPr>
          <a:lstStyle/>
          <a:p>
            <a:pPr>
              <a:lnSpc>
                <a:spcPts val="2999"/>
              </a:lnSpc>
            </a:pPr>
            <a:r>
              <a:rPr lang="en-US" sz="3200" b="1" dirty="0">
                <a:solidFill>
                  <a:srgbClr val="263744"/>
                </a:solidFill>
                <a:latin typeface="Poppins" panose="00000500000000000000" pitchFamily="2" charset="0"/>
                <a:cs typeface="Poppins" panose="00000500000000000000" pitchFamily="2" charset="0"/>
              </a:rPr>
              <a:t>Business Objectives of the Dashboard</a:t>
            </a:r>
            <a:endParaRPr lang="en-US" sz="2999" b="1" dirty="0">
              <a:solidFill>
                <a:srgbClr val="263744"/>
              </a:solidFill>
              <a:latin typeface="Poppins" panose="00000500000000000000" pitchFamily="2" charset="0"/>
              <a:ea typeface="Inter Bold"/>
              <a:cs typeface="Poppins" panose="00000500000000000000" pitchFamily="2" charset="0"/>
              <a:sym typeface="Inter Bold"/>
            </a:endParaRPr>
          </a:p>
        </p:txBody>
      </p:sp>
      <p:sp>
        <p:nvSpPr>
          <p:cNvPr id="14" name="TextBox 14"/>
          <p:cNvSpPr txBox="1"/>
          <p:nvPr/>
        </p:nvSpPr>
        <p:spPr>
          <a:xfrm>
            <a:off x="5950306" y="2705100"/>
            <a:ext cx="10092084" cy="4522520"/>
          </a:xfrm>
          <a:prstGeom prst="rect">
            <a:avLst/>
          </a:prstGeom>
        </p:spPr>
        <p:txBody>
          <a:bodyPr wrap="square" lIns="0" tIns="0" rIns="0" bIns="0" rtlCol="0" anchor="t">
            <a:spAutoFit/>
          </a:bodyPr>
          <a:lstStyle/>
          <a:p>
            <a:pPr lvl="0" eaLnBrk="0" fontAlgn="base" hangingPunct="0">
              <a:lnSpc>
                <a:spcPct val="150000"/>
              </a:lnSpc>
              <a:spcBef>
                <a:spcPct val="0"/>
              </a:spcBef>
              <a:spcAft>
                <a:spcPct val="0"/>
              </a:spcAft>
              <a:buFontTx/>
              <a:buChar char="•"/>
            </a:pPr>
            <a:r>
              <a:rPr lang="en-US" altLang="en-US" sz="2200" dirty="0">
                <a:solidFill>
                  <a:srgbClr val="263744"/>
                </a:solidFill>
                <a:latin typeface="Poppins" panose="00000500000000000000" pitchFamily="2" charset="0"/>
                <a:cs typeface="Poppins" panose="00000500000000000000" pitchFamily="2" charset="0"/>
              </a:rPr>
              <a:t>Monitor </a:t>
            </a:r>
            <a:r>
              <a:rPr lang="en-US" altLang="en-US" sz="2200" b="1" dirty="0">
                <a:solidFill>
                  <a:srgbClr val="263744"/>
                </a:solidFill>
                <a:latin typeface="Poppins" panose="00000500000000000000" pitchFamily="2" charset="0"/>
                <a:cs typeface="Poppins" panose="00000500000000000000" pitchFamily="2" charset="0"/>
              </a:rPr>
              <a:t>month-over-month revenue and customer growth</a:t>
            </a:r>
            <a:r>
              <a:rPr lang="en-US" altLang="en-US" sz="2200" dirty="0">
                <a:solidFill>
                  <a:srgbClr val="263744"/>
                </a:solidFill>
                <a:latin typeface="Poppins" panose="00000500000000000000" pitchFamily="2" charset="0"/>
                <a:cs typeface="Poppins" panose="00000500000000000000" pitchFamily="2" charset="0"/>
              </a:rPr>
              <a:t>.</a:t>
            </a:r>
          </a:p>
          <a:p>
            <a:pPr lvl="0" eaLnBrk="0" fontAlgn="base" hangingPunct="0">
              <a:lnSpc>
                <a:spcPct val="150000"/>
              </a:lnSpc>
              <a:spcBef>
                <a:spcPct val="0"/>
              </a:spcBef>
              <a:spcAft>
                <a:spcPct val="0"/>
              </a:spcAft>
              <a:buFontTx/>
              <a:buChar char="•"/>
            </a:pPr>
            <a:r>
              <a:rPr lang="en-US" altLang="en-US" sz="2200" dirty="0">
                <a:solidFill>
                  <a:srgbClr val="263744"/>
                </a:solidFill>
                <a:latin typeface="Poppins" panose="00000500000000000000" pitchFamily="2" charset="0"/>
                <a:cs typeface="Poppins" panose="00000500000000000000" pitchFamily="2" charset="0"/>
              </a:rPr>
              <a:t>Understand </a:t>
            </a:r>
            <a:r>
              <a:rPr lang="en-US" altLang="en-US" sz="2200" b="1" dirty="0">
                <a:solidFill>
                  <a:srgbClr val="263744"/>
                </a:solidFill>
                <a:latin typeface="Poppins" panose="00000500000000000000" pitchFamily="2" charset="0"/>
                <a:cs typeface="Poppins" panose="00000500000000000000" pitchFamily="2" charset="0"/>
              </a:rPr>
              <a:t>age-group behavior</a:t>
            </a:r>
            <a:r>
              <a:rPr lang="en-US" altLang="en-US" sz="2200" dirty="0">
                <a:solidFill>
                  <a:srgbClr val="263744"/>
                </a:solidFill>
                <a:latin typeface="Poppins" panose="00000500000000000000" pitchFamily="2" charset="0"/>
                <a:cs typeface="Poppins" panose="00000500000000000000" pitchFamily="2" charset="0"/>
              </a:rPr>
              <a:t>, policy preference, and expected settlement.</a:t>
            </a:r>
          </a:p>
          <a:p>
            <a:pPr lvl="0" eaLnBrk="0" fontAlgn="base" hangingPunct="0">
              <a:lnSpc>
                <a:spcPct val="150000"/>
              </a:lnSpc>
              <a:spcBef>
                <a:spcPct val="0"/>
              </a:spcBef>
              <a:spcAft>
                <a:spcPct val="0"/>
              </a:spcAft>
              <a:buFontTx/>
              <a:buChar char="•"/>
            </a:pPr>
            <a:r>
              <a:rPr lang="en-US" altLang="en-US" sz="2200" dirty="0">
                <a:solidFill>
                  <a:srgbClr val="263744"/>
                </a:solidFill>
                <a:latin typeface="Poppins" panose="00000500000000000000" pitchFamily="2" charset="0"/>
                <a:cs typeface="Poppins" panose="00000500000000000000" pitchFamily="2" charset="0"/>
              </a:rPr>
              <a:t>Identify the most effective </a:t>
            </a:r>
            <a:r>
              <a:rPr lang="en-US" altLang="en-US" sz="2200" b="1" dirty="0">
                <a:solidFill>
                  <a:srgbClr val="263744"/>
                </a:solidFill>
                <a:latin typeface="Poppins" panose="00000500000000000000" pitchFamily="2" charset="0"/>
                <a:cs typeface="Poppins" panose="00000500000000000000" pitchFamily="2" charset="0"/>
              </a:rPr>
              <a:t>sales modes</a:t>
            </a:r>
            <a:r>
              <a:rPr lang="en-US" altLang="en-US" sz="2200" dirty="0">
                <a:solidFill>
                  <a:srgbClr val="263744"/>
                </a:solidFill>
                <a:latin typeface="Poppins" panose="00000500000000000000" pitchFamily="2" charset="0"/>
                <a:cs typeface="Poppins" panose="00000500000000000000" pitchFamily="2" charset="0"/>
              </a:rPr>
              <a:t> for revenue and customer acquisition.</a:t>
            </a:r>
          </a:p>
          <a:p>
            <a:pPr lvl="0" eaLnBrk="0" fontAlgn="base" hangingPunct="0">
              <a:lnSpc>
                <a:spcPct val="150000"/>
              </a:lnSpc>
              <a:spcBef>
                <a:spcPct val="0"/>
              </a:spcBef>
              <a:spcAft>
                <a:spcPct val="0"/>
              </a:spcAft>
              <a:buFontTx/>
              <a:buChar char="•"/>
            </a:pPr>
            <a:r>
              <a:rPr lang="en-US" altLang="en-US" sz="2200" dirty="0">
                <a:solidFill>
                  <a:srgbClr val="263744"/>
                </a:solidFill>
                <a:latin typeface="Poppins" panose="00000500000000000000" pitchFamily="2" charset="0"/>
                <a:cs typeface="Poppins" panose="00000500000000000000" pitchFamily="2" charset="0"/>
              </a:rPr>
              <a:t>Evaluate </a:t>
            </a:r>
            <a:r>
              <a:rPr lang="en-US" altLang="en-US" sz="2200" b="1" dirty="0">
                <a:solidFill>
                  <a:srgbClr val="263744"/>
                </a:solidFill>
                <a:latin typeface="Poppins" panose="00000500000000000000" pitchFamily="2" charset="0"/>
                <a:cs typeface="Poppins" panose="00000500000000000000" pitchFamily="2" charset="0"/>
              </a:rPr>
              <a:t>city-wise performance</a:t>
            </a:r>
            <a:r>
              <a:rPr lang="en-US" altLang="en-US" sz="2200" dirty="0">
                <a:solidFill>
                  <a:srgbClr val="263744"/>
                </a:solidFill>
                <a:latin typeface="Poppins" panose="00000500000000000000" pitchFamily="2" charset="0"/>
                <a:cs typeface="Poppins" panose="00000500000000000000" pitchFamily="2" charset="0"/>
              </a:rPr>
              <a:t> to prioritize markets.</a:t>
            </a:r>
          </a:p>
          <a:p>
            <a:pPr lvl="0" eaLnBrk="0" fontAlgn="base" hangingPunct="0">
              <a:lnSpc>
                <a:spcPct val="150000"/>
              </a:lnSpc>
              <a:spcBef>
                <a:spcPct val="0"/>
              </a:spcBef>
              <a:spcAft>
                <a:spcPct val="0"/>
              </a:spcAft>
              <a:buFontTx/>
              <a:buChar char="•"/>
            </a:pPr>
            <a:r>
              <a:rPr lang="en-US" altLang="en-US" sz="2200" dirty="0">
                <a:solidFill>
                  <a:srgbClr val="263744"/>
                </a:solidFill>
                <a:latin typeface="Poppins" panose="00000500000000000000" pitchFamily="2" charset="0"/>
                <a:cs typeface="Poppins" panose="00000500000000000000" pitchFamily="2" charset="0"/>
              </a:rPr>
              <a:t>Enable </a:t>
            </a:r>
            <a:r>
              <a:rPr lang="en-US" altLang="en-US" sz="2200" b="1" dirty="0">
                <a:solidFill>
                  <a:srgbClr val="263744"/>
                </a:solidFill>
                <a:latin typeface="Poppins" panose="00000500000000000000" pitchFamily="2" charset="0"/>
                <a:cs typeface="Poppins" panose="00000500000000000000" pitchFamily="2" charset="0"/>
              </a:rPr>
              <a:t>faster, data-driven decisions</a:t>
            </a:r>
            <a:r>
              <a:rPr lang="en-US" altLang="en-US" sz="2200" dirty="0">
                <a:solidFill>
                  <a:srgbClr val="263744"/>
                </a:solidFill>
                <a:latin typeface="Poppins" panose="00000500000000000000" pitchFamily="2" charset="0"/>
                <a:cs typeface="Poppins" panose="00000500000000000000" pitchFamily="2" charset="0"/>
              </a:rPr>
              <a:t> through a unified performance view.</a:t>
            </a:r>
          </a:p>
          <a:p>
            <a:pPr lvl="0" eaLnBrk="0" fontAlgn="base" hangingPunct="0">
              <a:lnSpc>
                <a:spcPct val="150000"/>
              </a:lnSpc>
              <a:spcBef>
                <a:spcPct val="0"/>
              </a:spcBef>
              <a:spcAft>
                <a:spcPct val="0"/>
              </a:spcAft>
              <a:buFontTx/>
              <a:buChar char="•"/>
            </a:pPr>
            <a:r>
              <a:rPr lang="en-US" altLang="en-US" sz="2200" dirty="0">
                <a:solidFill>
                  <a:srgbClr val="263744"/>
                </a:solidFill>
                <a:latin typeface="Poppins" panose="00000500000000000000" pitchFamily="2" charset="0"/>
                <a:cs typeface="Poppins" panose="00000500000000000000" pitchFamily="2" charset="0"/>
              </a:rPr>
              <a:t>Support </a:t>
            </a:r>
            <a:r>
              <a:rPr lang="en-US" altLang="en-US" sz="2200" b="1" dirty="0">
                <a:solidFill>
                  <a:srgbClr val="263744"/>
                </a:solidFill>
                <a:latin typeface="Poppins" panose="00000500000000000000" pitchFamily="2" charset="0"/>
                <a:cs typeface="Poppins" panose="00000500000000000000" pitchFamily="2" charset="0"/>
              </a:rPr>
              <a:t>financial planning</a:t>
            </a:r>
            <a:r>
              <a:rPr lang="en-US" altLang="en-US" sz="2200" dirty="0">
                <a:solidFill>
                  <a:srgbClr val="263744"/>
                </a:solidFill>
                <a:latin typeface="Poppins" panose="00000500000000000000" pitchFamily="2" charset="0"/>
                <a:cs typeface="Poppins" panose="00000500000000000000" pitchFamily="2" charset="0"/>
              </a:rPr>
              <a:t> by analyzing expected settlement trends.</a:t>
            </a:r>
          </a:p>
        </p:txBody>
      </p:sp>
      <p:sp>
        <p:nvSpPr>
          <p:cNvPr id="15" name="TextBox 15"/>
          <p:cNvSpPr txBox="1"/>
          <p:nvPr/>
        </p:nvSpPr>
        <p:spPr>
          <a:xfrm>
            <a:off x="15750120" y="9447545"/>
            <a:ext cx="1523107" cy="264160"/>
          </a:xfrm>
          <a:prstGeom prst="rect">
            <a:avLst/>
          </a:prstGeom>
        </p:spPr>
        <p:txBody>
          <a:bodyPr lIns="0" tIns="0" rIns="0" bIns="0" rtlCol="0" anchor="t">
            <a:spAutoFit/>
          </a:bodyPr>
          <a:lstStyle/>
          <a:p>
            <a:pPr algn="ctr">
              <a:lnSpc>
                <a:spcPts val="2240"/>
              </a:lnSpc>
              <a:spcBef>
                <a:spcPct val="0"/>
              </a:spcBef>
            </a:pPr>
            <a:r>
              <a:rPr lang="en-US" sz="1600" u="sng" dirty="0">
                <a:solidFill>
                  <a:srgbClr val="3C586D"/>
                </a:solidFill>
                <a:latin typeface="Canva Sans"/>
                <a:ea typeface="Canva Sans"/>
                <a:cs typeface="Canva Sans"/>
                <a:sym typeface="Canva Sans"/>
                <a:hlinkClick r:id="rId5" tooltip="https://app.powerbi.com/view?r=eyJrIjoiYWYzYjJhNzItZGQ1MS00YzUzLTg1YTgtYmRjNDI2Mjg2NTdhIiwidCI6ImM2ZTU0OWIzLTVmNDUtNDAzMi1hYWU5LWQ0MjQ0ZGM1YjJjNCJ9"/>
              </a:rPr>
              <a:t>Dashboard Link</a:t>
            </a:r>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351002" y="1741893"/>
            <a:ext cx="8789876" cy="527686"/>
          </a:xfrm>
          <a:prstGeom prst="rect">
            <a:avLst/>
          </a:prstGeom>
        </p:spPr>
        <p:txBody>
          <a:bodyPr lIns="0" tIns="0" rIns="0" bIns="0" rtlCol="0" anchor="t">
            <a:spAutoFit/>
          </a:bodyPr>
          <a:lstStyle/>
          <a:p>
            <a:pPr algn="l">
              <a:lnSpc>
                <a:spcPts val="3900"/>
              </a:lnSpc>
            </a:pPr>
            <a:r>
              <a:rPr lang="en-US" sz="3900" b="1">
                <a:solidFill>
                  <a:srgbClr val="263744"/>
                </a:solidFill>
                <a:latin typeface="Inter Bold"/>
                <a:ea typeface="Inter Bold"/>
                <a:cs typeface="Inter Bold"/>
                <a:sym typeface="Inter Bold"/>
              </a:rPr>
              <a:t>Recommendation</a:t>
            </a:r>
          </a:p>
        </p:txBody>
      </p:sp>
      <p:sp>
        <p:nvSpPr>
          <p:cNvPr id="3" name="TextBox 3"/>
          <p:cNvSpPr txBox="1"/>
          <p:nvPr/>
        </p:nvSpPr>
        <p:spPr>
          <a:xfrm>
            <a:off x="2351002" y="2935605"/>
            <a:ext cx="13704595" cy="4384021"/>
          </a:xfrm>
          <a:prstGeom prst="rect">
            <a:avLst/>
          </a:prstGeom>
        </p:spPr>
        <p:txBody>
          <a:bodyPr lIns="0" tIns="0" rIns="0" bIns="0" rtlCol="0" anchor="t">
            <a:spAutoFit/>
          </a:bodyPr>
          <a:lstStyle/>
          <a:p>
            <a:pPr marL="431801" lvl="1" indent="-215900" algn="l">
              <a:lnSpc>
                <a:spcPts val="3780"/>
              </a:lnSpc>
              <a:buFont typeface="Arial"/>
              <a:buChar char="•"/>
            </a:pPr>
            <a:r>
              <a:rPr lang="en-US" sz="2200" dirty="0">
                <a:solidFill>
                  <a:srgbClr val="000000"/>
                </a:solidFill>
                <a:latin typeface="Poppins"/>
                <a:ea typeface="Poppins"/>
                <a:cs typeface="Poppins"/>
                <a:sym typeface="Poppins"/>
              </a:rPr>
              <a:t>Focus marketing and product strategy on the 31–40 age group, as it drives the highest customers and revenue.</a:t>
            </a:r>
          </a:p>
          <a:p>
            <a:pPr marL="431801" lvl="1" indent="-215900" algn="l">
              <a:lnSpc>
                <a:spcPct val="150000"/>
              </a:lnSpc>
              <a:buFont typeface="Arial"/>
              <a:buChar char="•"/>
            </a:pPr>
            <a:r>
              <a:rPr lang="en-US" sz="2200" dirty="0">
                <a:solidFill>
                  <a:srgbClr val="000000"/>
                </a:solidFill>
                <a:latin typeface="Poppins"/>
                <a:ea typeface="Poppins"/>
                <a:cs typeface="Poppins"/>
                <a:sym typeface="Poppins"/>
              </a:rPr>
              <a:t>Strengthen Offline Agent channel performance, while gradually reducing dependency by promoting digital onboarding.</a:t>
            </a:r>
          </a:p>
          <a:p>
            <a:pPr marL="431801" lvl="1" indent="-215900" algn="l">
              <a:lnSpc>
                <a:spcPts val="3780"/>
              </a:lnSpc>
              <a:buFont typeface="Arial"/>
              <a:buChar char="•"/>
            </a:pPr>
            <a:r>
              <a:rPr lang="en-US" sz="2200" dirty="0">
                <a:solidFill>
                  <a:srgbClr val="000000"/>
                </a:solidFill>
                <a:latin typeface="Poppins"/>
                <a:ea typeface="Poppins"/>
                <a:cs typeface="Poppins"/>
                <a:sym typeface="Poppins"/>
              </a:rPr>
              <a:t>Review pricing and underwriting rules for 41–50 and 65+ age groups due to higher estimated settlement exposure.</a:t>
            </a:r>
          </a:p>
          <a:p>
            <a:pPr marL="431801" lvl="1" indent="-215900" algn="l">
              <a:lnSpc>
                <a:spcPts val="3780"/>
              </a:lnSpc>
              <a:buFont typeface="Arial"/>
              <a:buChar char="•"/>
            </a:pPr>
            <a:r>
              <a:rPr lang="en-US" sz="2200" dirty="0">
                <a:solidFill>
                  <a:srgbClr val="000000"/>
                </a:solidFill>
                <a:latin typeface="Poppins"/>
                <a:ea typeface="Poppins"/>
                <a:cs typeface="Poppins"/>
                <a:sym typeface="Poppins"/>
              </a:rPr>
              <a:t>Optimize the policy portfolio by promoting high-performing policies and reworking low-adoption ones.</a:t>
            </a:r>
          </a:p>
          <a:p>
            <a:pPr marL="431801" lvl="1" indent="-215900" algn="l">
              <a:lnSpc>
                <a:spcPts val="3780"/>
              </a:lnSpc>
              <a:buFont typeface="Arial"/>
              <a:buChar char="•"/>
            </a:pPr>
            <a:r>
              <a:rPr lang="en-US" sz="2200" dirty="0">
                <a:solidFill>
                  <a:srgbClr val="000000"/>
                </a:solidFill>
                <a:latin typeface="Poppins"/>
                <a:ea typeface="Poppins"/>
                <a:cs typeface="Poppins"/>
                <a:sym typeface="Poppins"/>
              </a:rPr>
              <a:t>Analyze the March 2023 growth spike to identify repeatable and profitable drivers.</a:t>
            </a:r>
          </a:p>
        </p:txBody>
      </p:sp>
      <p:grpSp>
        <p:nvGrpSpPr>
          <p:cNvPr id="4" name="Group 4"/>
          <p:cNvGrpSpPr/>
          <p:nvPr/>
        </p:nvGrpSpPr>
        <p:grpSpPr>
          <a:xfrm>
            <a:off x="16897118" y="3287778"/>
            <a:ext cx="2092393" cy="5146030"/>
            <a:chOff x="0" y="0"/>
            <a:chExt cx="551083" cy="1355333"/>
          </a:xfrm>
        </p:grpSpPr>
        <p:sp>
          <p:nvSpPr>
            <p:cNvPr id="5" name="Freeform 5"/>
            <p:cNvSpPr/>
            <p:nvPr/>
          </p:nvSpPr>
          <p:spPr>
            <a:xfrm>
              <a:off x="0" y="0"/>
              <a:ext cx="551083" cy="1355333"/>
            </a:xfrm>
            <a:custGeom>
              <a:avLst/>
              <a:gdLst/>
              <a:ahLst/>
              <a:cxnLst/>
              <a:rect l="l" t="t" r="r" b="b"/>
              <a:pathLst>
                <a:path w="551083" h="1355333">
                  <a:moveTo>
                    <a:pt x="188702" y="0"/>
                  </a:moveTo>
                  <a:lnTo>
                    <a:pt x="362381" y="0"/>
                  </a:lnTo>
                  <a:cubicBezTo>
                    <a:pt x="466598" y="0"/>
                    <a:pt x="551083" y="84485"/>
                    <a:pt x="551083" y="188702"/>
                  </a:cubicBezTo>
                  <a:lnTo>
                    <a:pt x="551083" y="1166631"/>
                  </a:lnTo>
                  <a:cubicBezTo>
                    <a:pt x="551083" y="1216678"/>
                    <a:pt x="531202" y="1264675"/>
                    <a:pt x="495814" y="1300064"/>
                  </a:cubicBezTo>
                  <a:cubicBezTo>
                    <a:pt x="460425" y="1335452"/>
                    <a:pt x="412428" y="1355333"/>
                    <a:pt x="362381" y="1355333"/>
                  </a:cubicBezTo>
                  <a:lnTo>
                    <a:pt x="188702" y="1355333"/>
                  </a:lnTo>
                  <a:cubicBezTo>
                    <a:pt x="84485" y="1355333"/>
                    <a:pt x="0" y="1270848"/>
                    <a:pt x="0" y="1166631"/>
                  </a:cubicBezTo>
                  <a:lnTo>
                    <a:pt x="0" y="188702"/>
                  </a:lnTo>
                  <a:cubicBezTo>
                    <a:pt x="0" y="84485"/>
                    <a:pt x="84485" y="0"/>
                    <a:pt x="188702" y="0"/>
                  </a:cubicBezTo>
                  <a:close/>
                </a:path>
              </a:pathLst>
            </a:custGeom>
            <a:solidFill>
              <a:srgbClr val="84A2BB"/>
            </a:solidFill>
          </p:spPr>
        </p:sp>
        <p:sp>
          <p:nvSpPr>
            <p:cNvPr id="6" name="TextBox 6"/>
            <p:cNvSpPr txBox="1"/>
            <p:nvPr/>
          </p:nvSpPr>
          <p:spPr>
            <a:xfrm>
              <a:off x="0" y="-38100"/>
              <a:ext cx="551083" cy="1393433"/>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7163818" y="2913847"/>
            <a:ext cx="2092393" cy="5893892"/>
            <a:chOff x="0" y="0"/>
            <a:chExt cx="551083" cy="1552301"/>
          </a:xfrm>
        </p:grpSpPr>
        <p:sp>
          <p:nvSpPr>
            <p:cNvPr id="8" name="Freeform 8"/>
            <p:cNvSpPr/>
            <p:nvPr/>
          </p:nvSpPr>
          <p:spPr>
            <a:xfrm>
              <a:off x="0" y="0"/>
              <a:ext cx="551083" cy="1552301"/>
            </a:xfrm>
            <a:custGeom>
              <a:avLst/>
              <a:gdLst/>
              <a:ahLst/>
              <a:cxnLst/>
              <a:rect l="l" t="t" r="r" b="b"/>
              <a:pathLst>
                <a:path w="551083" h="1552301">
                  <a:moveTo>
                    <a:pt x="188702" y="0"/>
                  </a:moveTo>
                  <a:lnTo>
                    <a:pt x="362381" y="0"/>
                  </a:lnTo>
                  <a:cubicBezTo>
                    <a:pt x="466598" y="0"/>
                    <a:pt x="551083" y="84485"/>
                    <a:pt x="551083" y="188702"/>
                  </a:cubicBezTo>
                  <a:lnTo>
                    <a:pt x="551083" y="1363599"/>
                  </a:lnTo>
                  <a:cubicBezTo>
                    <a:pt x="551083" y="1467816"/>
                    <a:pt x="466598" y="1552301"/>
                    <a:pt x="362381" y="1552301"/>
                  </a:cubicBezTo>
                  <a:lnTo>
                    <a:pt x="188702" y="1552301"/>
                  </a:lnTo>
                  <a:cubicBezTo>
                    <a:pt x="138655" y="1552301"/>
                    <a:pt x="90658" y="1532420"/>
                    <a:pt x="55269" y="1497031"/>
                  </a:cubicBezTo>
                  <a:cubicBezTo>
                    <a:pt x="19881" y="1461643"/>
                    <a:pt x="0" y="1413646"/>
                    <a:pt x="0" y="1363599"/>
                  </a:cubicBezTo>
                  <a:lnTo>
                    <a:pt x="0" y="188702"/>
                  </a:lnTo>
                  <a:cubicBezTo>
                    <a:pt x="0" y="84485"/>
                    <a:pt x="84485" y="0"/>
                    <a:pt x="188702"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sp>
        <p:sp>
          <p:nvSpPr>
            <p:cNvPr id="9" name="TextBox 9"/>
            <p:cNvSpPr txBox="1"/>
            <p:nvPr/>
          </p:nvSpPr>
          <p:spPr>
            <a:xfrm>
              <a:off x="0" y="-38100"/>
              <a:ext cx="551083" cy="1590401"/>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701511" y="3287778"/>
            <a:ext cx="2092393" cy="5146030"/>
            <a:chOff x="0" y="0"/>
            <a:chExt cx="551083" cy="1355333"/>
          </a:xfrm>
        </p:grpSpPr>
        <p:sp>
          <p:nvSpPr>
            <p:cNvPr id="11" name="Freeform 11"/>
            <p:cNvSpPr/>
            <p:nvPr/>
          </p:nvSpPr>
          <p:spPr>
            <a:xfrm>
              <a:off x="0" y="0"/>
              <a:ext cx="551083" cy="1355333"/>
            </a:xfrm>
            <a:custGeom>
              <a:avLst/>
              <a:gdLst/>
              <a:ahLst/>
              <a:cxnLst/>
              <a:rect l="l" t="t" r="r" b="b"/>
              <a:pathLst>
                <a:path w="551083" h="1355333">
                  <a:moveTo>
                    <a:pt x="188702" y="0"/>
                  </a:moveTo>
                  <a:lnTo>
                    <a:pt x="362381" y="0"/>
                  </a:lnTo>
                  <a:cubicBezTo>
                    <a:pt x="466598" y="0"/>
                    <a:pt x="551083" y="84485"/>
                    <a:pt x="551083" y="188702"/>
                  </a:cubicBezTo>
                  <a:lnTo>
                    <a:pt x="551083" y="1166631"/>
                  </a:lnTo>
                  <a:cubicBezTo>
                    <a:pt x="551083" y="1216678"/>
                    <a:pt x="531202" y="1264675"/>
                    <a:pt x="495814" y="1300064"/>
                  </a:cubicBezTo>
                  <a:cubicBezTo>
                    <a:pt x="460425" y="1335452"/>
                    <a:pt x="412428" y="1355333"/>
                    <a:pt x="362381" y="1355333"/>
                  </a:cubicBezTo>
                  <a:lnTo>
                    <a:pt x="188702" y="1355333"/>
                  </a:lnTo>
                  <a:cubicBezTo>
                    <a:pt x="84485" y="1355333"/>
                    <a:pt x="0" y="1270848"/>
                    <a:pt x="0" y="1166631"/>
                  </a:cubicBezTo>
                  <a:lnTo>
                    <a:pt x="0" y="188702"/>
                  </a:lnTo>
                  <a:cubicBezTo>
                    <a:pt x="0" y="84485"/>
                    <a:pt x="84485" y="0"/>
                    <a:pt x="188702" y="0"/>
                  </a:cubicBezTo>
                  <a:close/>
                </a:path>
              </a:pathLst>
            </a:custGeom>
            <a:solidFill>
              <a:srgbClr val="84A2BB"/>
            </a:solidFill>
          </p:spPr>
        </p:sp>
        <p:sp>
          <p:nvSpPr>
            <p:cNvPr id="12" name="TextBox 12"/>
            <p:cNvSpPr txBox="1"/>
            <p:nvPr/>
          </p:nvSpPr>
          <p:spPr>
            <a:xfrm>
              <a:off x="0" y="-38100"/>
              <a:ext cx="551083" cy="1393433"/>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968211" y="2913847"/>
            <a:ext cx="2092393" cy="5893892"/>
            <a:chOff x="0" y="0"/>
            <a:chExt cx="551083" cy="1552301"/>
          </a:xfrm>
        </p:grpSpPr>
        <p:sp>
          <p:nvSpPr>
            <p:cNvPr id="14" name="Freeform 14"/>
            <p:cNvSpPr/>
            <p:nvPr/>
          </p:nvSpPr>
          <p:spPr>
            <a:xfrm>
              <a:off x="0" y="0"/>
              <a:ext cx="551083" cy="1552301"/>
            </a:xfrm>
            <a:custGeom>
              <a:avLst/>
              <a:gdLst/>
              <a:ahLst/>
              <a:cxnLst/>
              <a:rect l="l" t="t" r="r" b="b"/>
              <a:pathLst>
                <a:path w="551083" h="1552301">
                  <a:moveTo>
                    <a:pt x="188702" y="0"/>
                  </a:moveTo>
                  <a:lnTo>
                    <a:pt x="362381" y="0"/>
                  </a:lnTo>
                  <a:cubicBezTo>
                    <a:pt x="466598" y="0"/>
                    <a:pt x="551083" y="84485"/>
                    <a:pt x="551083" y="188702"/>
                  </a:cubicBezTo>
                  <a:lnTo>
                    <a:pt x="551083" y="1363599"/>
                  </a:lnTo>
                  <a:cubicBezTo>
                    <a:pt x="551083" y="1467816"/>
                    <a:pt x="466598" y="1552301"/>
                    <a:pt x="362381" y="1552301"/>
                  </a:cubicBezTo>
                  <a:lnTo>
                    <a:pt x="188702" y="1552301"/>
                  </a:lnTo>
                  <a:cubicBezTo>
                    <a:pt x="138655" y="1552301"/>
                    <a:pt x="90658" y="1532420"/>
                    <a:pt x="55269" y="1497031"/>
                  </a:cubicBezTo>
                  <a:cubicBezTo>
                    <a:pt x="19881" y="1461643"/>
                    <a:pt x="0" y="1413646"/>
                    <a:pt x="0" y="1363599"/>
                  </a:cubicBezTo>
                  <a:lnTo>
                    <a:pt x="0" y="188702"/>
                  </a:lnTo>
                  <a:cubicBezTo>
                    <a:pt x="0" y="84485"/>
                    <a:pt x="84485" y="0"/>
                    <a:pt x="188702"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sp>
        <p:sp>
          <p:nvSpPr>
            <p:cNvPr id="15" name="TextBox 15"/>
            <p:cNvSpPr txBox="1"/>
            <p:nvPr/>
          </p:nvSpPr>
          <p:spPr>
            <a:xfrm>
              <a:off x="0" y="-38100"/>
              <a:ext cx="551083" cy="1590401"/>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1497471" y="9557758"/>
            <a:ext cx="21282941" cy="1594069"/>
            <a:chOff x="0" y="0"/>
            <a:chExt cx="5605384" cy="419837"/>
          </a:xfrm>
        </p:grpSpPr>
        <p:sp>
          <p:nvSpPr>
            <p:cNvPr id="17" name="Freeform 17"/>
            <p:cNvSpPr/>
            <p:nvPr/>
          </p:nvSpPr>
          <p:spPr>
            <a:xfrm>
              <a:off x="0" y="0"/>
              <a:ext cx="5605384" cy="419837"/>
            </a:xfrm>
            <a:custGeom>
              <a:avLst/>
              <a:gdLst/>
              <a:ahLst/>
              <a:cxnLst/>
              <a:rect l="l" t="t" r="r" b="b"/>
              <a:pathLst>
                <a:path w="5605384" h="419837">
                  <a:moveTo>
                    <a:pt x="18552" y="0"/>
                  </a:moveTo>
                  <a:lnTo>
                    <a:pt x="5586832" y="0"/>
                  </a:lnTo>
                  <a:cubicBezTo>
                    <a:pt x="5597078" y="0"/>
                    <a:pt x="5605384" y="8306"/>
                    <a:pt x="5605384" y="18552"/>
                  </a:cubicBezTo>
                  <a:lnTo>
                    <a:pt x="5605384" y="401285"/>
                  </a:lnTo>
                  <a:cubicBezTo>
                    <a:pt x="5605384" y="406206"/>
                    <a:pt x="5603429" y="410924"/>
                    <a:pt x="5599950" y="414403"/>
                  </a:cubicBezTo>
                  <a:cubicBezTo>
                    <a:pt x="5596471" y="417883"/>
                    <a:pt x="5591752" y="419837"/>
                    <a:pt x="5586832" y="419837"/>
                  </a:cubicBezTo>
                  <a:lnTo>
                    <a:pt x="18552" y="419837"/>
                  </a:lnTo>
                  <a:cubicBezTo>
                    <a:pt x="8306" y="419837"/>
                    <a:pt x="0" y="411531"/>
                    <a:pt x="0" y="401285"/>
                  </a:cubicBezTo>
                  <a:lnTo>
                    <a:pt x="0" y="18552"/>
                  </a:lnTo>
                  <a:cubicBezTo>
                    <a:pt x="0" y="8306"/>
                    <a:pt x="8306" y="0"/>
                    <a:pt x="18552"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sp>
        <p:sp>
          <p:nvSpPr>
            <p:cNvPr id="18" name="TextBox 18"/>
            <p:cNvSpPr txBox="1"/>
            <p:nvPr/>
          </p:nvSpPr>
          <p:spPr>
            <a:xfrm>
              <a:off x="0" y="-38100"/>
              <a:ext cx="5605384" cy="457937"/>
            </a:xfrm>
            <a:prstGeom prst="rect">
              <a:avLst/>
            </a:prstGeom>
          </p:spPr>
          <p:txBody>
            <a:bodyPr lIns="50800" tIns="50800" rIns="50800" bIns="50800" rtlCol="0" anchor="ctr"/>
            <a:lstStyle/>
            <a:p>
              <a:pPr algn="ctr">
                <a:lnSpc>
                  <a:spcPts val="2659"/>
                </a:lnSpc>
              </a:pPr>
              <a:endParaRPr/>
            </a:p>
          </p:txBody>
        </p:sp>
      </p:gr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351002" y="1741893"/>
            <a:ext cx="8789876" cy="527686"/>
          </a:xfrm>
          <a:prstGeom prst="rect">
            <a:avLst/>
          </a:prstGeom>
        </p:spPr>
        <p:txBody>
          <a:bodyPr lIns="0" tIns="0" rIns="0" bIns="0" rtlCol="0" anchor="t">
            <a:spAutoFit/>
          </a:bodyPr>
          <a:lstStyle/>
          <a:p>
            <a:pPr algn="l">
              <a:lnSpc>
                <a:spcPts val="3900"/>
              </a:lnSpc>
            </a:pPr>
            <a:r>
              <a:rPr lang="en-US" sz="3900" b="1">
                <a:solidFill>
                  <a:srgbClr val="263744"/>
                </a:solidFill>
                <a:latin typeface="Inter Bold"/>
                <a:ea typeface="Inter Bold"/>
                <a:cs typeface="Inter Bold"/>
                <a:sym typeface="Inter Bold"/>
              </a:rPr>
              <a:t>Business Impact of the Dashboard</a:t>
            </a:r>
          </a:p>
        </p:txBody>
      </p:sp>
      <p:sp>
        <p:nvSpPr>
          <p:cNvPr id="3" name="TextBox 3"/>
          <p:cNvSpPr txBox="1"/>
          <p:nvPr/>
        </p:nvSpPr>
        <p:spPr>
          <a:xfrm>
            <a:off x="2351002" y="2939473"/>
            <a:ext cx="10498052" cy="2487861"/>
          </a:xfrm>
          <a:prstGeom prst="rect">
            <a:avLst/>
          </a:prstGeom>
        </p:spPr>
        <p:txBody>
          <a:bodyPr lIns="0" tIns="0" rIns="0" bIns="0" rtlCol="0" anchor="t">
            <a:spAutoFit/>
          </a:bodyPr>
          <a:lstStyle/>
          <a:p>
            <a:pPr lvl="0" eaLnBrk="0" fontAlgn="base" hangingPunct="0">
              <a:lnSpc>
                <a:spcPct val="150000"/>
              </a:lnSpc>
              <a:spcBef>
                <a:spcPct val="0"/>
              </a:spcBef>
              <a:spcAft>
                <a:spcPct val="0"/>
              </a:spcAft>
              <a:buFontTx/>
              <a:buChar char="•"/>
            </a:pPr>
            <a:r>
              <a:rPr lang="en-US" altLang="en-US" sz="2200" dirty="0">
                <a:solidFill>
                  <a:srgbClr val="263744"/>
                </a:solidFill>
                <a:latin typeface="Arial" panose="020B0604020202020204" pitchFamily="34" charset="0"/>
              </a:rPr>
              <a:t>Clear identification of high-value segments</a:t>
            </a:r>
          </a:p>
          <a:p>
            <a:pPr lvl="0" eaLnBrk="0" fontAlgn="base" hangingPunct="0">
              <a:lnSpc>
                <a:spcPct val="150000"/>
              </a:lnSpc>
              <a:spcBef>
                <a:spcPct val="0"/>
              </a:spcBef>
              <a:spcAft>
                <a:spcPct val="0"/>
              </a:spcAft>
              <a:buFontTx/>
              <a:buChar char="•"/>
            </a:pPr>
            <a:r>
              <a:rPr lang="en-US" altLang="en-US" sz="2200" dirty="0">
                <a:solidFill>
                  <a:srgbClr val="263744"/>
                </a:solidFill>
                <a:latin typeface="Arial" panose="020B0604020202020204" pitchFamily="34" charset="0"/>
              </a:rPr>
              <a:t>Improved revenue and channel focus</a:t>
            </a:r>
          </a:p>
          <a:p>
            <a:pPr lvl="0" eaLnBrk="0" fontAlgn="base" hangingPunct="0">
              <a:lnSpc>
                <a:spcPct val="150000"/>
              </a:lnSpc>
              <a:spcBef>
                <a:spcPct val="0"/>
              </a:spcBef>
              <a:spcAft>
                <a:spcPct val="0"/>
              </a:spcAft>
              <a:buFontTx/>
              <a:buChar char="•"/>
            </a:pPr>
            <a:r>
              <a:rPr lang="en-US" altLang="en-US" sz="2200" dirty="0">
                <a:solidFill>
                  <a:srgbClr val="263744"/>
                </a:solidFill>
                <a:latin typeface="Arial" panose="020B0604020202020204" pitchFamily="34" charset="0"/>
              </a:rPr>
              <a:t>Better risk visibility and control</a:t>
            </a:r>
          </a:p>
          <a:p>
            <a:pPr lvl="0" eaLnBrk="0" fontAlgn="base" hangingPunct="0">
              <a:lnSpc>
                <a:spcPct val="150000"/>
              </a:lnSpc>
              <a:spcBef>
                <a:spcPct val="0"/>
              </a:spcBef>
              <a:spcAft>
                <a:spcPct val="0"/>
              </a:spcAft>
              <a:buFontTx/>
              <a:buChar char="•"/>
            </a:pPr>
            <a:r>
              <a:rPr lang="en-US" altLang="en-US" sz="2200" dirty="0">
                <a:solidFill>
                  <a:srgbClr val="263744"/>
                </a:solidFill>
                <a:latin typeface="Arial" panose="020B0604020202020204" pitchFamily="34" charset="0"/>
              </a:rPr>
              <a:t>Smarter product and policy planning</a:t>
            </a:r>
          </a:p>
          <a:p>
            <a:pPr lvl="0" eaLnBrk="0" fontAlgn="base" hangingPunct="0">
              <a:lnSpc>
                <a:spcPct val="150000"/>
              </a:lnSpc>
              <a:spcBef>
                <a:spcPct val="0"/>
              </a:spcBef>
              <a:spcAft>
                <a:spcPct val="0"/>
              </a:spcAft>
              <a:buFontTx/>
              <a:buChar char="•"/>
            </a:pPr>
            <a:r>
              <a:rPr lang="en-US" altLang="en-US" sz="2200" dirty="0">
                <a:solidFill>
                  <a:srgbClr val="263744"/>
                </a:solidFill>
                <a:latin typeface="Arial" panose="020B0604020202020204" pitchFamily="34" charset="0"/>
              </a:rPr>
              <a:t>Early detection of performance trends</a:t>
            </a:r>
            <a:endParaRPr lang="en-US" sz="2200" dirty="0">
              <a:solidFill>
                <a:srgbClr val="263744"/>
              </a:solidFill>
              <a:latin typeface="Poppins"/>
              <a:ea typeface="Poppins"/>
              <a:cs typeface="Poppins"/>
              <a:sym typeface="Poppins"/>
            </a:endParaRPr>
          </a:p>
        </p:txBody>
      </p:sp>
      <p:grpSp>
        <p:nvGrpSpPr>
          <p:cNvPr id="4" name="Group 4"/>
          <p:cNvGrpSpPr/>
          <p:nvPr/>
        </p:nvGrpSpPr>
        <p:grpSpPr>
          <a:xfrm>
            <a:off x="16897118" y="3287778"/>
            <a:ext cx="2092393" cy="5146030"/>
            <a:chOff x="0" y="0"/>
            <a:chExt cx="551083" cy="1355333"/>
          </a:xfrm>
        </p:grpSpPr>
        <p:sp>
          <p:nvSpPr>
            <p:cNvPr id="5" name="Freeform 5"/>
            <p:cNvSpPr/>
            <p:nvPr/>
          </p:nvSpPr>
          <p:spPr>
            <a:xfrm>
              <a:off x="0" y="0"/>
              <a:ext cx="551083" cy="1355333"/>
            </a:xfrm>
            <a:custGeom>
              <a:avLst/>
              <a:gdLst/>
              <a:ahLst/>
              <a:cxnLst/>
              <a:rect l="l" t="t" r="r" b="b"/>
              <a:pathLst>
                <a:path w="551083" h="1355333">
                  <a:moveTo>
                    <a:pt x="188702" y="0"/>
                  </a:moveTo>
                  <a:lnTo>
                    <a:pt x="362381" y="0"/>
                  </a:lnTo>
                  <a:cubicBezTo>
                    <a:pt x="466598" y="0"/>
                    <a:pt x="551083" y="84485"/>
                    <a:pt x="551083" y="188702"/>
                  </a:cubicBezTo>
                  <a:lnTo>
                    <a:pt x="551083" y="1166631"/>
                  </a:lnTo>
                  <a:cubicBezTo>
                    <a:pt x="551083" y="1216678"/>
                    <a:pt x="531202" y="1264675"/>
                    <a:pt x="495814" y="1300064"/>
                  </a:cubicBezTo>
                  <a:cubicBezTo>
                    <a:pt x="460425" y="1335452"/>
                    <a:pt x="412428" y="1355333"/>
                    <a:pt x="362381" y="1355333"/>
                  </a:cubicBezTo>
                  <a:lnTo>
                    <a:pt x="188702" y="1355333"/>
                  </a:lnTo>
                  <a:cubicBezTo>
                    <a:pt x="84485" y="1355333"/>
                    <a:pt x="0" y="1270848"/>
                    <a:pt x="0" y="1166631"/>
                  </a:cubicBezTo>
                  <a:lnTo>
                    <a:pt x="0" y="188702"/>
                  </a:lnTo>
                  <a:cubicBezTo>
                    <a:pt x="0" y="84485"/>
                    <a:pt x="84485" y="0"/>
                    <a:pt x="188702" y="0"/>
                  </a:cubicBezTo>
                  <a:close/>
                </a:path>
              </a:pathLst>
            </a:custGeom>
            <a:solidFill>
              <a:srgbClr val="84A2BB"/>
            </a:solidFill>
          </p:spPr>
        </p:sp>
        <p:sp>
          <p:nvSpPr>
            <p:cNvPr id="6" name="TextBox 6"/>
            <p:cNvSpPr txBox="1"/>
            <p:nvPr/>
          </p:nvSpPr>
          <p:spPr>
            <a:xfrm>
              <a:off x="0" y="-38100"/>
              <a:ext cx="551083" cy="1393433"/>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7163818" y="2913847"/>
            <a:ext cx="2092393" cy="5893892"/>
            <a:chOff x="0" y="0"/>
            <a:chExt cx="551083" cy="1552301"/>
          </a:xfrm>
        </p:grpSpPr>
        <p:sp>
          <p:nvSpPr>
            <p:cNvPr id="8" name="Freeform 8"/>
            <p:cNvSpPr/>
            <p:nvPr/>
          </p:nvSpPr>
          <p:spPr>
            <a:xfrm>
              <a:off x="0" y="0"/>
              <a:ext cx="551083" cy="1552301"/>
            </a:xfrm>
            <a:custGeom>
              <a:avLst/>
              <a:gdLst/>
              <a:ahLst/>
              <a:cxnLst/>
              <a:rect l="l" t="t" r="r" b="b"/>
              <a:pathLst>
                <a:path w="551083" h="1552301">
                  <a:moveTo>
                    <a:pt x="188702" y="0"/>
                  </a:moveTo>
                  <a:lnTo>
                    <a:pt x="362381" y="0"/>
                  </a:lnTo>
                  <a:cubicBezTo>
                    <a:pt x="466598" y="0"/>
                    <a:pt x="551083" y="84485"/>
                    <a:pt x="551083" y="188702"/>
                  </a:cubicBezTo>
                  <a:lnTo>
                    <a:pt x="551083" y="1363599"/>
                  </a:lnTo>
                  <a:cubicBezTo>
                    <a:pt x="551083" y="1467816"/>
                    <a:pt x="466598" y="1552301"/>
                    <a:pt x="362381" y="1552301"/>
                  </a:cubicBezTo>
                  <a:lnTo>
                    <a:pt x="188702" y="1552301"/>
                  </a:lnTo>
                  <a:cubicBezTo>
                    <a:pt x="138655" y="1552301"/>
                    <a:pt x="90658" y="1532420"/>
                    <a:pt x="55269" y="1497031"/>
                  </a:cubicBezTo>
                  <a:cubicBezTo>
                    <a:pt x="19881" y="1461643"/>
                    <a:pt x="0" y="1413646"/>
                    <a:pt x="0" y="1363599"/>
                  </a:cubicBezTo>
                  <a:lnTo>
                    <a:pt x="0" y="188702"/>
                  </a:lnTo>
                  <a:cubicBezTo>
                    <a:pt x="0" y="84485"/>
                    <a:pt x="84485" y="0"/>
                    <a:pt x="188702"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sp>
        <p:sp>
          <p:nvSpPr>
            <p:cNvPr id="9" name="TextBox 9"/>
            <p:cNvSpPr txBox="1"/>
            <p:nvPr/>
          </p:nvSpPr>
          <p:spPr>
            <a:xfrm>
              <a:off x="0" y="-38100"/>
              <a:ext cx="551083" cy="1590401"/>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701511" y="3287778"/>
            <a:ext cx="2092393" cy="5146030"/>
            <a:chOff x="0" y="0"/>
            <a:chExt cx="551083" cy="1355333"/>
          </a:xfrm>
        </p:grpSpPr>
        <p:sp>
          <p:nvSpPr>
            <p:cNvPr id="11" name="Freeform 11"/>
            <p:cNvSpPr/>
            <p:nvPr/>
          </p:nvSpPr>
          <p:spPr>
            <a:xfrm>
              <a:off x="0" y="0"/>
              <a:ext cx="551083" cy="1355333"/>
            </a:xfrm>
            <a:custGeom>
              <a:avLst/>
              <a:gdLst/>
              <a:ahLst/>
              <a:cxnLst/>
              <a:rect l="l" t="t" r="r" b="b"/>
              <a:pathLst>
                <a:path w="551083" h="1355333">
                  <a:moveTo>
                    <a:pt x="188702" y="0"/>
                  </a:moveTo>
                  <a:lnTo>
                    <a:pt x="362381" y="0"/>
                  </a:lnTo>
                  <a:cubicBezTo>
                    <a:pt x="466598" y="0"/>
                    <a:pt x="551083" y="84485"/>
                    <a:pt x="551083" y="188702"/>
                  </a:cubicBezTo>
                  <a:lnTo>
                    <a:pt x="551083" y="1166631"/>
                  </a:lnTo>
                  <a:cubicBezTo>
                    <a:pt x="551083" y="1216678"/>
                    <a:pt x="531202" y="1264675"/>
                    <a:pt x="495814" y="1300064"/>
                  </a:cubicBezTo>
                  <a:cubicBezTo>
                    <a:pt x="460425" y="1335452"/>
                    <a:pt x="412428" y="1355333"/>
                    <a:pt x="362381" y="1355333"/>
                  </a:cubicBezTo>
                  <a:lnTo>
                    <a:pt x="188702" y="1355333"/>
                  </a:lnTo>
                  <a:cubicBezTo>
                    <a:pt x="84485" y="1355333"/>
                    <a:pt x="0" y="1270848"/>
                    <a:pt x="0" y="1166631"/>
                  </a:cubicBezTo>
                  <a:lnTo>
                    <a:pt x="0" y="188702"/>
                  </a:lnTo>
                  <a:cubicBezTo>
                    <a:pt x="0" y="84485"/>
                    <a:pt x="84485" y="0"/>
                    <a:pt x="188702" y="0"/>
                  </a:cubicBezTo>
                  <a:close/>
                </a:path>
              </a:pathLst>
            </a:custGeom>
            <a:solidFill>
              <a:srgbClr val="84A2BB"/>
            </a:solidFill>
          </p:spPr>
        </p:sp>
        <p:sp>
          <p:nvSpPr>
            <p:cNvPr id="12" name="TextBox 12"/>
            <p:cNvSpPr txBox="1"/>
            <p:nvPr/>
          </p:nvSpPr>
          <p:spPr>
            <a:xfrm>
              <a:off x="0" y="-38100"/>
              <a:ext cx="551083" cy="1393433"/>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968211" y="2913847"/>
            <a:ext cx="2092393" cy="5893892"/>
            <a:chOff x="0" y="0"/>
            <a:chExt cx="551083" cy="1552301"/>
          </a:xfrm>
        </p:grpSpPr>
        <p:sp>
          <p:nvSpPr>
            <p:cNvPr id="14" name="Freeform 14"/>
            <p:cNvSpPr/>
            <p:nvPr/>
          </p:nvSpPr>
          <p:spPr>
            <a:xfrm>
              <a:off x="0" y="0"/>
              <a:ext cx="551083" cy="1552301"/>
            </a:xfrm>
            <a:custGeom>
              <a:avLst/>
              <a:gdLst/>
              <a:ahLst/>
              <a:cxnLst/>
              <a:rect l="l" t="t" r="r" b="b"/>
              <a:pathLst>
                <a:path w="551083" h="1552301">
                  <a:moveTo>
                    <a:pt x="188702" y="0"/>
                  </a:moveTo>
                  <a:lnTo>
                    <a:pt x="362381" y="0"/>
                  </a:lnTo>
                  <a:cubicBezTo>
                    <a:pt x="466598" y="0"/>
                    <a:pt x="551083" y="84485"/>
                    <a:pt x="551083" y="188702"/>
                  </a:cubicBezTo>
                  <a:lnTo>
                    <a:pt x="551083" y="1363599"/>
                  </a:lnTo>
                  <a:cubicBezTo>
                    <a:pt x="551083" y="1467816"/>
                    <a:pt x="466598" y="1552301"/>
                    <a:pt x="362381" y="1552301"/>
                  </a:cubicBezTo>
                  <a:lnTo>
                    <a:pt x="188702" y="1552301"/>
                  </a:lnTo>
                  <a:cubicBezTo>
                    <a:pt x="138655" y="1552301"/>
                    <a:pt x="90658" y="1532420"/>
                    <a:pt x="55269" y="1497031"/>
                  </a:cubicBezTo>
                  <a:cubicBezTo>
                    <a:pt x="19881" y="1461643"/>
                    <a:pt x="0" y="1413646"/>
                    <a:pt x="0" y="1363599"/>
                  </a:cubicBezTo>
                  <a:lnTo>
                    <a:pt x="0" y="188702"/>
                  </a:lnTo>
                  <a:cubicBezTo>
                    <a:pt x="0" y="84485"/>
                    <a:pt x="84485" y="0"/>
                    <a:pt x="188702"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sp>
        <p:sp>
          <p:nvSpPr>
            <p:cNvPr id="15" name="TextBox 15"/>
            <p:cNvSpPr txBox="1"/>
            <p:nvPr/>
          </p:nvSpPr>
          <p:spPr>
            <a:xfrm>
              <a:off x="0" y="-38100"/>
              <a:ext cx="551083" cy="1590401"/>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1497471" y="9557758"/>
            <a:ext cx="21282941" cy="1594069"/>
            <a:chOff x="0" y="0"/>
            <a:chExt cx="5605384" cy="419837"/>
          </a:xfrm>
        </p:grpSpPr>
        <p:sp>
          <p:nvSpPr>
            <p:cNvPr id="17" name="Freeform 17"/>
            <p:cNvSpPr/>
            <p:nvPr/>
          </p:nvSpPr>
          <p:spPr>
            <a:xfrm>
              <a:off x="0" y="0"/>
              <a:ext cx="5605384" cy="419837"/>
            </a:xfrm>
            <a:custGeom>
              <a:avLst/>
              <a:gdLst/>
              <a:ahLst/>
              <a:cxnLst/>
              <a:rect l="l" t="t" r="r" b="b"/>
              <a:pathLst>
                <a:path w="5605384" h="419837">
                  <a:moveTo>
                    <a:pt x="18552" y="0"/>
                  </a:moveTo>
                  <a:lnTo>
                    <a:pt x="5586832" y="0"/>
                  </a:lnTo>
                  <a:cubicBezTo>
                    <a:pt x="5597078" y="0"/>
                    <a:pt x="5605384" y="8306"/>
                    <a:pt x="5605384" y="18552"/>
                  </a:cubicBezTo>
                  <a:lnTo>
                    <a:pt x="5605384" y="401285"/>
                  </a:lnTo>
                  <a:cubicBezTo>
                    <a:pt x="5605384" y="406206"/>
                    <a:pt x="5603429" y="410924"/>
                    <a:pt x="5599950" y="414403"/>
                  </a:cubicBezTo>
                  <a:cubicBezTo>
                    <a:pt x="5596471" y="417883"/>
                    <a:pt x="5591752" y="419837"/>
                    <a:pt x="5586832" y="419837"/>
                  </a:cubicBezTo>
                  <a:lnTo>
                    <a:pt x="18552" y="419837"/>
                  </a:lnTo>
                  <a:cubicBezTo>
                    <a:pt x="8306" y="419837"/>
                    <a:pt x="0" y="411531"/>
                    <a:pt x="0" y="401285"/>
                  </a:cubicBezTo>
                  <a:lnTo>
                    <a:pt x="0" y="18552"/>
                  </a:lnTo>
                  <a:cubicBezTo>
                    <a:pt x="0" y="8306"/>
                    <a:pt x="8306" y="0"/>
                    <a:pt x="18552" y="0"/>
                  </a:cubicBezTo>
                  <a:close/>
                </a:path>
              </a:pathLst>
            </a:custGeom>
            <a:gradFill rotWithShape="1">
              <a:gsLst>
                <a:gs pos="0">
                  <a:srgbClr val="283F52">
                    <a:alpha val="100000"/>
                  </a:srgbClr>
                </a:gs>
                <a:gs pos="20000">
                  <a:srgbClr val="283E51">
                    <a:alpha val="100000"/>
                  </a:srgbClr>
                </a:gs>
                <a:gs pos="40000">
                  <a:srgbClr val="263744">
                    <a:alpha val="100000"/>
                  </a:srgbClr>
                </a:gs>
                <a:gs pos="60000">
                  <a:srgbClr val="263744">
                    <a:alpha val="100000"/>
                  </a:srgbClr>
                </a:gs>
                <a:gs pos="80000">
                  <a:srgbClr val="283E51">
                    <a:alpha val="100000"/>
                  </a:srgbClr>
                </a:gs>
                <a:gs pos="100000">
                  <a:srgbClr val="283E51">
                    <a:alpha val="100000"/>
                  </a:srgbClr>
                </a:gs>
              </a:gsLst>
              <a:lin ang="2700000"/>
            </a:gradFill>
          </p:spPr>
        </p:sp>
        <p:sp>
          <p:nvSpPr>
            <p:cNvPr id="18" name="TextBox 18"/>
            <p:cNvSpPr txBox="1"/>
            <p:nvPr/>
          </p:nvSpPr>
          <p:spPr>
            <a:xfrm>
              <a:off x="0" y="-38100"/>
              <a:ext cx="5605384" cy="457937"/>
            </a:xfrm>
            <a:prstGeom prst="rect">
              <a:avLst/>
            </a:prstGeom>
          </p:spPr>
          <p:txBody>
            <a:bodyPr lIns="50800" tIns="50800" rIns="50800" bIns="50800" rtlCol="0" anchor="ctr"/>
            <a:lstStyle/>
            <a:p>
              <a:pPr algn="ctr">
                <a:lnSpc>
                  <a:spcPts val="2659"/>
                </a:lnSpc>
              </a:pPr>
              <a:endParaRPr/>
            </a:p>
          </p:txBody>
        </p:sp>
      </p:grpSp>
      <p:sp>
        <p:nvSpPr>
          <p:cNvPr id="22" name="TextBox 22"/>
          <p:cNvSpPr txBox="1"/>
          <p:nvPr/>
        </p:nvSpPr>
        <p:spPr>
          <a:xfrm>
            <a:off x="16055598" y="8866465"/>
            <a:ext cx="1133958" cy="277942"/>
          </a:xfrm>
          <a:prstGeom prst="rect">
            <a:avLst/>
          </a:prstGeom>
        </p:spPr>
        <p:txBody>
          <a:bodyPr lIns="0" tIns="0" rIns="0" bIns="0" rtlCol="0" anchor="t">
            <a:spAutoFit/>
          </a:bodyPr>
          <a:lstStyle/>
          <a:p>
            <a:pPr algn="ctr">
              <a:lnSpc>
                <a:spcPts val="2292"/>
              </a:lnSpc>
            </a:pPr>
            <a:r>
              <a:rPr lang="en-US" sz="1637" b="1">
                <a:solidFill>
                  <a:srgbClr val="FFFFFF"/>
                </a:solidFill>
                <a:latin typeface="Canva Sans Bold"/>
                <a:ea typeface="Canva Sans Bold"/>
                <a:cs typeface="Canva Sans Bold"/>
                <a:sym typeface="Canva Sans Bold"/>
              </a:rPr>
              <a:t>Page 06</a:t>
            </a: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16666" b="-16666"/>
            </a:stretch>
          </a:blipFill>
        </p:spPr>
      </p:sp>
      <p:grpSp>
        <p:nvGrpSpPr>
          <p:cNvPr id="3" name="Group 3"/>
          <p:cNvGrpSpPr/>
          <p:nvPr/>
        </p:nvGrpSpPr>
        <p:grpSpPr>
          <a:xfrm>
            <a:off x="1028700" y="0"/>
            <a:ext cx="17566674" cy="10680117"/>
            <a:chOff x="0" y="0"/>
            <a:chExt cx="4626614" cy="2812870"/>
          </a:xfrm>
        </p:grpSpPr>
        <p:sp>
          <p:nvSpPr>
            <p:cNvPr id="4" name="Freeform 4"/>
            <p:cNvSpPr/>
            <p:nvPr/>
          </p:nvSpPr>
          <p:spPr>
            <a:xfrm>
              <a:off x="0" y="0"/>
              <a:ext cx="4626614" cy="2812870"/>
            </a:xfrm>
            <a:custGeom>
              <a:avLst/>
              <a:gdLst/>
              <a:ahLst/>
              <a:cxnLst/>
              <a:rect l="l" t="t" r="r" b="b"/>
              <a:pathLst>
                <a:path w="4626614" h="2812870">
                  <a:moveTo>
                    <a:pt x="0" y="0"/>
                  </a:moveTo>
                  <a:lnTo>
                    <a:pt x="4626614" y="0"/>
                  </a:lnTo>
                  <a:lnTo>
                    <a:pt x="4626614" y="2812870"/>
                  </a:lnTo>
                  <a:lnTo>
                    <a:pt x="0" y="2812870"/>
                  </a:lnTo>
                  <a:close/>
                </a:path>
              </a:pathLst>
            </a:custGeom>
            <a:gradFill rotWithShape="1">
              <a:gsLst>
                <a:gs pos="0">
                  <a:srgbClr val="283E51">
                    <a:alpha val="0"/>
                  </a:srgbClr>
                </a:gs>
                <a:gs pos="33333">
                  <a:srgbClr val="283E51">
                    <a:alpha val="75500"/>
                  </a:srgbClr>
                </a:gs>
                <a:gs pos="66667">
                  <a:srgbClr val="283E51">
                    <a:alpha val="100000"/>
                  </a:srgbClr>
                </a:gs>
                <a:gs pos="100000">
                  <a:srgbClr val="122737">
                    <a:alpha val="100000"/>
                  </a:srgbClr>
                </a:gs>
              </a:gsLst>
              <a:lin ang="0"/>
            </a:gradFill>
          </p:spPr>
        </p:sp>
        <p:sp>
          <p:nvSpPr>
            <p:cNvPr id="5" name="TextBox 5"/>
            <p:cNvSpPr txBox="1"/>
            <p:nvPr/>
          </p:nvSpPr>
          <p:spPr>
            <a:xfrm>
              <a:off x="0" y="-38100"/>
              <a:ext cx="4626614" cy="2850970"/>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4347053" y="3957328"/>
            <a:ext cx="11818095" cy="1575845"/>
          </a:xfrm>
          <a:prstGeom prst="rect">
            <a:avLst/>
          </a:prstGeom>
        </p:spPr>
        <p:txBody>
          <a:bodyPr lIns="0" tIns="0" rIns="0" bIns="0" rtlCol="0" anchor="t">
            <a:spAutoFit/>
          </a:bodyPr>
          <a:lstStyle/>
          <a:p>
            <a:pPr algn="r">
              <a:lnSpc>
                <a:spcPts val="12892"/>
              </a:lnSpc>
            </a:pPr>
            <a:r>
              <a:rPr lang="en-US" sz="9208" b="1">
                <a:solidFill>
                  <a:srgbClr val="FFFFFF"/>
                </a:solidFill>
                <a:latin typeface="Inter Bold"/>
                <a:ea typeface="Inter Bold"/>
                <a:cs typeface="Inter Bold"/>
                <a:sym typeface="Inter Bold"/>
              </a:rPr>
              <a:t>THANK YOU</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503</TotalTime>
  <Words>292</Words>
  <Application>Microsoft Office PowerPoint</Application>
  <PresentationFormat>Custom</PresentationFormat>
  <Paragraphs>28</Paragraphs>
  <Slides>6</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vt:i4>
      </vt:variant>
    </vt:vector>
  </HeadingPairs>
  <TitlesOfParts>
    <vt:vector size="14" baseType="lpstr">
      <vt:lpstr>Poppins</vt:lpstr>
      <vt:lpstr>Canva Sans</vt:lpstr>
      <vt:lpstr>Calibri</vt:lpstr>
      <vt:lpstr>Inter Bold</vt:lpstr>
      <vt:lpstr>Canva Sans Bold</vt:lpstr>
      <vt:lpstr>Arial</vt:lpstr>
      <vt:lpstr>Montserrat Semi-Bold</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Shield Insurance</dc:title>
  <cp:lastModifiedBy>Saranya Kp</cp:lastModifiedBy>
  <cp:revision>7</cp:revision>
  <dcterms:created xsi:type="dcterms:W3CDTF">2006-08-16T00:00:00Z</dcterms:created>
  <dcterms:modified xsi:type="dcterms:W3CDTF">2025-12-15T15:20:31Z</dcterms:modified>
  <dc:identifier>DAG7Tu3Aa9o</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99A7DAF5-1AA8-4E07-839C-D6A0E9AF9083</vt:lpwstr>
  </property>
  <property fmtid="{D5CDD505-2E9C-101B-9397-08002B2CF9AE}" pid="3" name="ArticulatePath">
    <vt:lpwstr>Shield Insurance ppt</vt:lpwstr>
  </property>
</Properties>
</file>